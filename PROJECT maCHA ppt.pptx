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4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CF73EA-2AEB-4F02-B4B5-FABC484750DE}" type="datetimeFigureOut">
              <a:rPr lang="LID4096" smtClean="0"/>
              <a:t>07/12/2026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4C6F84-A356-4FA3-BF7B-4F1C7606572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36999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C6F84-A356-4FA3-BF7B-4F1C76065725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63300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0530BEA7-4F73-4B06-BFF3-49FE382678DC}" type="datetimeFigureOut">
              <a:rPr lang="LID4096" smtClean="0"/>
              <a:t>07/12/2026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E880899-80D6-44A5-8001-0FFF9B985B2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62334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BEA7-4F73-4B06-BFF3-49FE382678DC}" type="datetimeFigureOut">
              <a:rPr lang="LID4096" smtClean="0"/>
              <a:t>07/12/2026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0899-80D6-44A5-8001-0FFF9B985B2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91139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BEA7-4F73-4B06-BFF3-49FE382678DC}" type="datetimeFigureOut">
              <a:rPr lang="LID4096" smtClean="0"/>
              <a:t>07/12/2026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0899-80D6-44A5-8001-0FFF9B985B2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80471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BEA7-4F73-4B06-BFF3-49FE382678DC}" type="datetimeFigureOut">
              <a:rPr lang="LID4096" smtClean="0"/>
              <a:t>07/12/2026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0899-80D6-44A5-8001-0FFF9B985B2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56120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BEA7-4F73-4B06-BFF3-49FE382678DC}" type="datetimeFigureOut">
              <a:rPr lang="LID4096" smtClean="0"/>
              <a:t>07/12/2026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0899-80D6-44A5-8001-0FFF9B985B2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00170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BEA7-4F73-4B06-BFF3-49FE382678DC}" type="datetimeFigureOut">
              <a:rPr lang="LID4096" smtClean="0"/>
              <a:t>07/12/2026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0899-80D6-44A5-8001-0FFF9B985B2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31785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BEA7-4F73-4B06-BFF3-49FE382678DC}" type="datetimeFigureOut">
              <a:rPr lang="LID4096" smtClean="0"/>
              <a:t>07/12/2026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0899-80D6-44A5-8001-0FFF9B985B2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03067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BEA7-4F73-4B06-BFF3-49FE382678DC}" type="datetimeFigureOut">
              <a:rPr lang="LID4096" smtClean="0"/>
              <a:t>07/12/2026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0899-80D6-44A5-8001-0FFF9B985B2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28390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BEA7-4F73-4B06-BFF3-49FE382678DC}" type="datetimeFigureOut">
              <a:rPr lang="LID4096" smtClean="0"/>
              <a:t>07/12/2026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0899-80D6-44A5-8001-0FFF9B985B2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35985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BEA7-4F73-4B06-BFF3-49FE382678DC}" type="datetimeFigureOut">
              <a:rPr lang="LID4096" smtClean="0"/>
              <a:t>07/12/2026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0899-80D6-44A5-8001-0FFF9B985B2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05481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BEA7-4F73-4B06-BFF3-49FE382678DC}" type="datetimeFigureOut">
              <a:rPr lang="LID4096" smtClean="0"/>
              <a:t>07/12/2026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0899-80D6-44A5-8001-0FFF9B985B2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191195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BEA7-4F73-4B06-BFF3-49FE382678DC}" type="datetimeFigureOut">
              <a:rPr lang="LID4096" smtClean="0"/>
              <a:t>07/12/2026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0899-80D6-44A5-8001-0FFF9B985B2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52675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BEA7-4F73-4B06-BFF3-49FE382678DC}" type="datetimeFigureOut">
              <a:rPr lang="LID4096" smtClean="0"/>
              <a:t>07/12/2026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0899-80D6-44A5-8001-0FFF9B985B2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11630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BEA7-4F73-4B06-BFF3-49FE382678DC}" type="datetimeFigureOut">
              <a:rPr lang="LID4096" smtClean="0"/>
              <a:t>07/12/2026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0899-80D6-44A5-8001-0FFF9B985B2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366502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BEA7-4F73-4B06-BFF3-49FE382678DC}" type="datetimeFigureOut">
              <a:rPr lang="LID4096" smtClean="0"/>
              <a:t>07/12/2026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0899-80D6-44A5-8001-0FFF9B985B2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325607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0530BEA7-4F73-4B06-BFF3-49FE382678DC}" type="datetimeFigureOut">
              <a:rPr lang="LID4096" smtClean="0"/>
              <a:t>07/12/2026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0899-80D6-44A5-8001-0FFF9B985B2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282424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0530BEA7-4F73-4B06-BFF3-49FE382678DC}" type="datetimeFigureOut">
              <a:rPr lang="LID4096" smtClean="0"/>
              <a:t>07/12/2026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80899-80D6-44A5-8001-0FFF9B985B2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25174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0530BEA7-4F73-4B06-BFF3-49FE382678DC}" type="datetimeFigureOut">
              <a:rPr lang="LID4096" smtClean="0"/>
              <a:t>07/12/2026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LID4096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EE880899-80D6-44A5-8001-0FFF9B985B2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73801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19305-thank-you-png-clipart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7E4D10-7DDC-10DE-4A79-047197FFE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maCHA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Chama Management System</a:t>
            </a:r>
            <a:endParaRPr lang="LID4096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FA249DC-520A-BF14-F7B5-A0E5773E07C7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0" indent="0">
              <a:buNone/>
            </a:pP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Odao Moureen – Project Manager &amp; Backend Developer </a:t>
            </a:r>
          </a:p>
          <a:p>
            <a:pPr marL="0" indent="0">
              <a:buNone/>
            </a:pP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 Wanja Muriithi – Database Management &amp; Documentation </a:t>
            </a:r>
          </a:p>
          <a:p>
            <a:pPr marL="0" indent="0">
              <a:buNone/>
            </a:pP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Nancy Mokaya – Database Management &amp; Documentation</a:t>
            </a:r>
          </a:p>
          <a:p>
            <a:pPr marL="0" indent="0">
              <a:buNone/>
            </a:pP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Eugene Owuor – Frontend Development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8969D84-9C83-C953-21F4-731246243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544758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0BBE5-8416-17F0-709B-B6E1607FB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CHAMA?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281B82-97C5-0F9D-82A9-E0A3AB1B5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1335" y="595563"/>
            <a:ext cx="5190066" cy="5666874"/>
          </a:xfrm>
          <a:gradFill>
            <a:gsLst>
              <a:gs pos="50000">
                <a:schemeClr val="accent6">
                  <a:lumMod val="40000"/>
                  <a:lumOff val="60000"/>
                </a:schemeClr>
              </a:gs>
              <a:gs pos="0">
                <a:schemeClr val="accent6">
                  <a:lumMod val="20000"/>
                  <a:lumOff val="80000"/>
                </a:schemeClr>
              </a:gs>
              <a:gs pos="100000">
                <a:schemeClr val="accent6">
                  <a:lumMod val="75000"/>
                </a:schemeClr>
              </a:gs>
            </a:gsLst>
            <a:path path="circle">
              <a:fillToRect l="50000" t="50000" r="50000" b="50000"/>
            </a:path>
          </a:gradFill>
        </p:spPr>
        <p:txBody>
          <a:bodyPr/>
          <a:lstStyle/>
          <a:p>
            <a:pPr marL="0" indent="0">
              <a:buNone/>
            </a:pPr>
            <a:endParaRPr lang="en-US" sz="1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Chamas still rely on: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records Manual calculations Physical attendance books Slow report generation Loss of records Errors in contribution tracking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 computerized Chama Management System</a:t>
            </a:r>
            <a:r>
              <a:rPr lang="en-US" dirty="0"/>
              <a:t>.</a:t>
            </a:r>
            <a:endParaRPr lang="LID4096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7AAB58-9BB3-9870-204B-DDC863E57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Chama is a community savings and investment group where members contribute money regularly for savings, loans, investments, and financial support.</a:t>
            </a:r>
            <a:endParaRPr lang="LID4096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187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DFAF2-0EFD-6531-D939-510510DD2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BFA7F-4AF5-A82B-1AA9-040CE688E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Chama management methods present several challenges</a:t>
            </a:r>
            <a:r>
              <a:rPr lang="" dirty="0"/>
              <a:t>: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recording of member contributions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tracking of contribution history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Delayed communication between members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monitoring beneficiary rotation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financial transparency</a:t>
            </a:r>
          </a:p>
          <a:p>
            <a:pPr marL="0" indent="0">
              <a:buNone/>
            </a:pPr>
            <a:endParaRPr lang="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addresses these challenges by providing a centralized web-based management system.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425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5000">
              <a:srgbClr val="CC6BC9"/>
            </a:gs>
            <a:gs pos="50000">
              <a:schemeClr val="accent6">
                <a:lumMod val="40000"/>
                <a:lumOff val="60000"/>
              </a:schemeClr>
            </a:gs>
            <a:gs pos="0">
              <a:schemeClr val="accent6">
                <a:lumMod val="20000"/>
                <a:lumOff val="80000"/>
              </a:schemeClr>
            </a:gs>
            <a:gs pos="100000">
              <a:schemeClr val="accent6">
                <a:lumMod val="7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73234A-D6C0-3B5E-3EF2-0ACE84137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C3C5B58-9CA2-9388-BA61-42494D3D86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of this project is </a:t>
            </a: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a web-based Chama Merry-Go-Round Management System that automates the management of Chama activities.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7824DD-636E-73C4-A6FC-82A52A4E5C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member registration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Digitally manage Chama groups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 and monitor member contributions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beneficiary payouts Generate reports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828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2349D6D-74C8-26C4-7E3A-3224FEAD0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USERS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E538DF-A014-B68E-65A9-68E4BB870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Administrator: </a:t>
            </a: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user accounts , Monitor the system ,Generate reports </a:t>
            </a:r>
          </a:p>
          <a:p>
            <a:r>
              <a:rPr lang="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Chairperson: </a:t>
            </a: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Chama groups ,Approve members ,Schedule payouts </a:t>
            </a:r>
          </a:p>
          <a:p>
            <a:r>
              <a:rPr lang="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Member: </a:t>
            </a: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and log in ,Join groups ,Make contributions ,View contribution history ,Receive notifications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842065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87489-3D46-0FBB-3B6D-1382F927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5B8FE-0ECF-D5D7-3973-862F2A636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65683"/>
            <a:ext cx="10820400" cy="392794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implemented system provides: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management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management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management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Payout management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settings </a:t>
            </a:r>
          </a:p>
          <a:p>
            <a:pPr marL="0" indent="0">
              <a:buNone/>
            </a:pP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functions automate the daily operations of a Chama. </a:t>
            </a:r>
          </a:p>
          <a:p>
            <a:pPr marL="0" indent="0">
              <a:buNone/>
            </a:pP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381890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471B2-5014-9961-A598-874C067E6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292DC5-7B06-0C61-9E8B-2E0FC4F040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2F9FD-7D27-0028-AB2F-00D7A18ED01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</a:p>
          <a:p>
            <a:r>
              <a:rPr lang="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Framework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E1B57B-3DD2-2C3A-51C1-7FDCD89FEF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88E08C-D273-A634-227B-1D503A04422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</a:p>
          <a:p>
            <a:r>
              <a:rPr lang="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&amp; GitHub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842245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B30BC-7F95-12D2-EE31-9AE8D2CF6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6B497-DD2D-A114-0DAF-086A8F91C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application follows a three tier architecture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61F761-15F0-9D1A-F150-E06590340D8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" dirty="0"/>
              <a:t>Presentation Layer</a:t>
            </a:r>
          </a:p>
          <a:p>
            <a:r>
              <a:rPr lang="" dirty="0"/>
              <a:t>HTML </a:t>
            </a:r>
          </a:p>
          <a:p>
            <a:r>
              <a:rPr lang="" dirty="0"/>
              <a:t>CSS </a:t>
            </a:r>
          </a:p>
          <a:p>
            <a:r>
              <a:rPr lang="" dirty="0"/>
              <a:t>JavaScript </a:t>
            </a:r>
          </a:p>
          <a:p>
            <a:r>
              <a:rPr lang="" dirty="0"/>
              <a:t>↓</a:t>
            </a:r>
          </a:p>
          <a:p>
            <a:r>
              <a:rPr lang="" dirty="0"/>
              <a:t>Application Layer</a:t>
            </a:r>
          </a:p>
          <a:p>
            <a:r>
              <a:rPr lang="" dirty="0"/>
              <a:t>Flask </a:t>
            </a:r>
          </a:p>
          <a:p>
            <a:r>
              <a:rPr lang="" dirty="0"/>
              <a:t>Business Logic </a:t>
            </a:r>
          </a:p>
          <a:p>
            <a:r>
              <a:rPr lang="" dirty="0"/>
              <a:t>Authentication </a:t>
            </a:r>
          </a:p>
          <a:p>
            <a:pPr marL="0" indent="0">
              <a:buNone/>
            </a:pPr>
            <a:endParaRPr lang="" dirty="0"/>
          </a:p>
          <a:p>
            <a:endParaRPr lang="LID4096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54151F-5EF4-6855-4D54-D25148F15E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7500" lnSpcReduction="20000"/>
          </a:bodyPr>
          <a:lstStyle/>
          <a:p>
            <a:endParaRPr lang="LID4096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F977A2-1E14-BEF3-D496-0AFCEDF121D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Validation</a:t>
            </a:r>
          </a:p>
          <a:p>
            <a:r>
              <a:rPr lang="" dirty="0"/>
              <a:t>↓</a:t>
            </a:r>
          </a:p>
          <a:p>
            <a:r>
              <a:rPr lang="" dirty="0"/>
              <a:t>Database Layer</a:t>
            </a:r>
          </a:p>
          <a:p>
            <a:r>
              <a:rPr lang="" dirty="0"/>
              <a:t>SQLite Database </a:t>
            </a:r>
          </a:p>
          <a:p>
            <a:r>
              <a:rPr lang="" dirty="0"/>
              <a:t>This architecture separates the user interface, application logic and data storage, making the system easier to maintain and expand. 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027145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C44D319-EF5F-901E-01A1-774121230A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001" y="0"/>
            <a:ext cx="4036082" cy="660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584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49E06-A3B0-51E7-CE2F-F3579CC49B0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754063"/>
            <a:ext cx="8824913" cy="56673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  <a:endParaRPr lang="LID4096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230C3F-6041-F4BB-A4C4-22CE3F5C6D67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0" y="1320800"/>
            <a:ext cx="8824913" cy="1168400"/>
          </a:xfrm>
        </p:spPr>
        <p:txBody>
          <a:bodyPr>
            <a:normAutofit fontScale="25000" lnSpcReduction="20000"/>
          </a:bodyPr>
          <a:lstStyle/>
          <a:p>
            <a:r>
              <a:rPr lang="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stores data in SQLite.</a:t>
            </a:r>
          </a:p>
          <a:p>
            <a:r>
              <a:rPr lang="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database tables include:</a:t>
            </a:r>
          </a:p>
          <a:p>
            <a:r>
              <a:rPr lang="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,Members ,Groups ,Contributions ,Payouts ,Notifications ,Settings </a:t>
            </a:r>
          </a:p>
          <a:p>
            <a:r>
              <a:rPr lang="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between these entities are represented using the Entity Relationship Diagram (ERD</a:t>
            </a: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LID4096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FECD25-E9DA-C9E7-1CDA-33ECAD823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186" y="2641196"/>
            <a:ext cx="4172532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848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D20C5-891E-FB62-EF4C-F842FAB02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</a:t>
            </a:r>
            <a:endParaRPr lang="LID4096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6E9946F-BDB1-D4BE-FB5D-1D784D891A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4238" y="2603500"/>
            <a:ext cx="4274549" cy="3416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4FA89C-BF13-1118-5D89-F3F0E4DCB523}"/>
              </a:ext>
            </a:extLst>
          </p:cNvPr>
          <p:cNvSpPr txBox="1"/>
          <p:nvPr/>
        </p:nvSpPr>
        <p:spPr>
          <a:xfrm>
            <a:off x="257313" y="2603500"/>
            <a:ext cx="505375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Login</a:t>
            </a:r>
          </a:p>
          <a:p>
            <a:pPr>
              <a:buNone/>
            </a:pP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implemented authentication module allows users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 account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personal information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into the system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user credentials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encrypted passwords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the dashboard after successful login </a:t>
            </a:r>
          </a:p>
          <a:p>
            <a:pPr>
              <a:buNone/>
            </a:pP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functionality was implemented using Flask routes and SQLite.</a:t>
            </a:r>
          </a:p>
        </p:txBody>
      </p:sp>
    </p:spTree>
    <p:extLst>
      <p:ext uri="{BB962C8B-B14F-4D97-AF65-F5344CB8AC3E}">
        <p14:creationId xmlns:p14="http://schemas.microsoft.com/office/powerpoint/2010/main" val="3307125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F6B35-D56F-7816-838B-79764EC32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9A347-A5A6-4581-6799-374C55EDD15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provides a summary of the system by displaying: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members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groups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contributions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payouts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totals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Pending payouts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activities </a:t>
            </a:r>
          </a:p>
          <a:p>
            <a:pPr marL="0" indent="0">
              <a:buNone/>
            </a:pP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enables administrators to monitor Chama activities from a single interface.</a:t>
            </a:r>
          </a:p>
          <a:p>
            <a:endParaRPr lang="LID4096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0D2AEF4-67A9-DFF1-4B2B-814129AF86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713" y="3233819"/>
            <a:ext cx="4824412" cy="215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74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5D78C-E146-C98D-7EC7-8AC608BC0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AND GROUP MANAGEMENT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9F60A-972F-604E-5028-CBF687045C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enables administrators to: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new members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member information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Chama groups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available groups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members into groups </a:t>
            </a:r>
          </a:p>
          <a:p>
            <a:pPr marL="0" indent="0">
              <a:buNone/>
            </a:pP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improves organization and simplifies management of Chama records.</a:t>
            </a:r>
          </a:p>
          <a:p>
            <a:endParaRPr lang="LID4096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D55C042-FF03-540F-8AC9-BAB9273E33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713" y="3211081"/>
            <a:ext cx="4824412" cy="2201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898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5417D-B8A5-4C26-C694-9E41CECC5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MANAGEMENT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D9B43-B14C-4887-E55A-39A36C1ECA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contribution module allows administrators to: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new contributions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contribution records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contribution information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contribution history </a:t>
            </a:r>
          </a:p>
          <a:p>
            <a:pPr marL="0" indent="0">
              <a:buNone/>
            </a:pP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stores every contribution in the SQLite database, making financial records easier to retrieve and manage.</a:t>
            </a:r>
          </a:p>
          <a:p>
            <a:endParaRPr lang="LID4096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47BCCBC-6A43-8BC0-11A0-FD5F614D0E9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713" y="3103662"/>
            <a:ext cx="4824412" cy="241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379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B86DD-A639-B910-EFD8-12505E7BD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PAYOUT MANAGEMENT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D026F-F72D-1470-6286-768F6D4232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payout module allows administrators to: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payouts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payout information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beneficiary payments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payout history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payout status </a:t>
            </a:r>
          </a:p>
          <a:p>
            <a:pPr marL="0" indent="0">
              <a:buNone/>
            </a:pP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supports the Merry-Go-Round rotation process.</a:t>
            </a:r>
          </a:p>
          <a:p>
            <a:endParaRPr lang="LID4096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09D83CE-40D6-14BE-CAA3-1BF6F5CDB2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713" y="3179044"/>
            <a:ext cx="4824412" cy="226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876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alpha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D830-9775-66BF-1615-97AB35DD7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REPORTS AND NOTIFICATIONS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D9494-5EA2-0B6A-B494-B573C6ED24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provides:</a:t>
            </a:r>
          </a:p>
          <a:p>
            <a:pPr marL="0" indent="0">
              <a:buNone/>
            </a:pPr>
            <a:r>
              <a:rPr lang="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</a:t>
            </a:r>
          </a:p>
          <a:p>
            <a:r>
              <a:rPr lang="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reports </a:t>
            </a:r>
          </a:p>
          <a:p>
            <a:r>
              <a:rPr lang="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summaries </a:t>
            </a:r>
          </a:p>
          <a:p>
            <a:r>
              <a:rPr lang="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activity information </a:t>
            </a:r>
          </a:p>
          <a:p>
            <a:pPr marL="0" indent="0">
              <a:buNone/>
            </a:pPr>
            <a:r>
              <a:rPr lang="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</a:t>
            </a:r>
          </a:p>
          <a:p>
            <a:r>
              <a:rPr lang="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notifications </a:t>
            </a:r>
          </a:p>
          <a:p>
            <a:r>
              <a:rPr lang="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announcements </a:t>
            </a:r>
          </a:p>
          <a:p>
            <a:r>
              <a:rPr lang="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communication between administrators and members </a:t>
            </a:r>
          </a:p>
          <a:p>
            <a:pPr marL="0" indent="0">
              <a:buNone/>
            </a:pPr>
            <a:r>
              <a:rPr lang="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modules assist in monitoring Chama activities efficiently</a:t>
            </a: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LID4096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0936A1D-A02C-1F41-2095-228230273E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713" y="2918978"/>
            <a:ext cx="4824412" cy="278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209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2F6632C-772A-75F6-709C-DB53FD61A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036D81-B4B7-45B7-2338-748D4C516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developed application was implemented using: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for server-side processing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for database management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 and JavaScript for the user interface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SQLAlchemy for database interaction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for version control </a:t>
            </a:r>
          </a:p>
          <a:p>
            <a:pPr marL="0" indent="0">
              <a:buNone/>
            </a:pP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successfully connects the frontend, backend and database to provide a complete web-based Chama management solution.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02636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50C4F-7DF9-96A0-BF3C-D7FD04699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ENCOUNTERED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CD545-179B-862B-0650-38336D096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development, the team experienced several challenges: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Flask framework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relationships between database tables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frontend with backend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version control using GitHub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CRUD operations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within the one-month project timeline </a:t>
            </a:r>
          </a:p>
          <a:p>
            <a:pPr marL="0" indent="0">
              <a:buNone/>
            </a:pP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challenges were addressed through teamwork, testing and continuous debugging.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341718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8ED34-ADB9-0CD2-BB26-B7610E8C7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CE5D-EB1F-EB3C-931B-69EA461FD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versions of the system will include: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M-Pesa Daraja API integration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SMS notifications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automation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chatbot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management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support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analytics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157969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5BC51-0E83-B3F1-CF4B-501B7824D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29E31-3142-8B73-2558-733339C38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42147"/>
            <a:ext cx="8825659" cy="40426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Web-Based Chama Merry-Go-Round Management System successfully automates the management of Chama activities.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implemented system enables: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authentication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management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management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tracking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Payout management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 </a:t>
            </a:r>
          </a:p>
          <a:p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 </a:t>
            </a:r>
          </a:p>
          <a:p>
            <a:pPr marL="0" indent="0">
              <a:buNone/>
            </a:pPr>
            <a:r>
              <a:rPr lang="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reduces manual record keeping, improves transparency, enhances accountability and provides an efficient digital platform for managing Chama operations.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220422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ED8EB1-9546-FA95-269C-2C5F451C9E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032778" y="1710877"/>
            <a:ext cx="4905693" cy="367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9535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187</TotalTime>
  <Words>813</Words>
  <Application>Microsoft Office PowerPoint</Application>
  <PresentationFormat>Widescreen</PresentationFormat>
  <Paragraphs>178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Century Gothic</vt:lpstr>
      <vt:lpstr>Times New Roman</vt:lpstr>
      <vt:lpstr>Wingdings 3</vt:lpstr>
      <vt:lpstr>Ion Boardroom</vt:lpstr>
      <vt:lpstr>PROJECT maCHA Chama Management System</vt:lpstr>
      <vt:lpstr>WHAT IS A CHAMA?</vt:lpstr>
      <vt:lpstr>PROBLEM STATEMENT</vt:lpstr>
      <vt:lpstr>PROJECT OBJECTIVES</vt:lpstr>
      <vt:lpstr>SYSTEM USERS</vt:lpstr>
      <vt:lpstr>SYSTEM REQUIREMENTS</vt:lpstr>
      <vt:lpstr>TECHNOLOGY STACK</vt:lpstr>
      <vt:lpstr>SYSTEM ARCHITECTURE</vt:lpstr>
      <vt:lpstr>PowerPoint Presentation</vt:lpstr>
      <vt:lpstr>DATABASE DESIGN</vt:lpstr>
      <vt:lpstr>USER AUTHENTICATION</vt:lpstr>
      <vt:lpstr>DASHBOARD</vt:lpstr>
      <vt:lpstr>MEMBER AND GROUP MANAGEMENT</vt:lpstr>
      <vt:lpstr>CONTRIBUTION MANAGEMENT</vt:lpstr>
      <vt:lpstr>PAYOUT MANAGEMENT</vt:lpstr>
      <vt:lpstr>REPORTS AND NOTIFICATIONS</vt:lpstr>
      <vt:lpstr>SYSTEM IMPLEMENTATION</vt:lpstr>
      <vt:lpstr>CHALLENGES ENCOUNTERED</vt:lpstr>
      <vt:lpstr>FUTURE IMPROVEMENTS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 WANJA</dc:creator>
  <cp:lastModifiedBy>ANN WANJA</cp:lastModifiedBy>
  <cp:revision>1</cp:revision>
  <dcterms:created xsi:type="dcterms:W3CDTF">2026-07-12T14:56:07Z</dcterms:created>
  <dcterms:modified xsi:type="dcterms:W3CDTF">2026-07-12T18:03:17Z</dcterms:modified>
</cp:coreProperties>
</file>